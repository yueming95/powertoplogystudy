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38" r:id="rId1"/>
  </p:sldMasterIdLst>
  <p:notesMasterIdLst>
    <p:notesMasterId r:id="rId23"/>
  </p:notesMasterIdLst>
  <p:handoutMasterIdLst>
    <p:handoutMasterId r:id="rId24"/>
  </p:handoutMasterIdLst>
  <p:sldIdLst>
    <p:sldId id="10226" r:id="rId2"/>
    <p:sldId id="10191" r:id="rId3"/>
    <p:sldId id="10192" r:id="rId4"/>
    <p:sldId id="10227" r:id="rId5"/>
    <p:sldId id="10193" r:id="rId6"/>
    <p:sldId id="10219" r:id="rId7"/>
    <p:sldId id="10220" r:id="rId8"/>
    <p:sldId id="10228" r:id="rId9"/>
    <p:sldId id="10229" r:id="rId10"/>
    <p:sldId id="10230" r:id="rId11"/>
    <p:sldId id="10194" r:id="rId12"/>
    <p:sldId id="10205" r:id="rId13"/>
    <p:sldId id="10231" r:id="rId14"/>
    <p:sldId id="10234" r:id="rId15"/>
    <p:sldId id="10233" r:id="rId16"/>
    <p:sldId id="10236" r:id="rId17"/>
    <p:sldId id="10237" r:id="rId18"/>
    <p:sldId id="10238" r:id="rId19"/>
    <p:sldId id="10239" r:id="rId20"/>
    <p:sldId id="10241" r:id="rId21"/>
    <p:sldId id="10190" r:id="rId22"/>
  </p:sldIdLst>
  <p:sldSz cx="12858750" cy="723265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D7C3"/>
    <a:srgbClr val="FFB700"/>
    <a:srgbClr val="E5DAC9"/>
    <a:srgbClr val="FFC600"/>
    <a:srgbClr val="953D19"/>
    <a:srgbClr val="CC936B"/>
    <a:srgbClr val="CD763D"/>
    <a:srgbClr val="7F1513"/>
    <a:srgbClr val="F89171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13" autoAdjust="0"/>
    <p:restoredTop sz="95317" autoAdjust="0"/>
  </p:normalViewPr>
  <p:slideViewPr>
    <p:cSldViewPr>
      <p:cViewPr varScale="1">
        <p:scale>
          <a:sx n="91" d="100"/>
          <a:sy n="91" d="100"/>
        </p:scale>
        <p:origin x="-152" y="180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076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2024/7/18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67825A-42C3-43DF-A9E0-B8B749B3939F}" type="datetime1">
              <a:rPr lang="zh-CN" altLang="en-US" smtClean="0"/>
              <a:pPr/>
              <a:t>2024/7/18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A0162E-2667-456C-A790-270787271587}" type="slidenum">
              <a:rPr lang="zh-CN" altLang="en-US" smtClean="0"/>
              <a:pPr/>
              <a:t>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41670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929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90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815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1CF38-71B0-474A-B071-9183F50B30C2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5609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1CF38-71B0-474A-B071-9183F50B30C2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2731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892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1CF38-71B0-474A-B071-9183F50B30C2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41572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1CF38-71B0-474A-B071-9183F50B30C2}" type="slidenum">
              <a:rPr lang="id-ID" smtClean="0"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04929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67825A-42C3-43DF-A9E0-B8B749B3939F}" type="datetime1">
              <a:rPr lang="zh-CN" altLang="en-US" smtClean="0"/>
              <a:pPr/>
              <a:t>2024/7/18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A0162E-2667-456C-A790-270787271587}" type="slidenum">
              <a:rPr lang="zh-CN" altLang="en-US" smtClean="0"/>
              <a:pPr/>
              <a:t>21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451905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5DFD-8505-4C7B-90FE-F45A3565472F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06F3C-FA24-4A80-8CD4-EE5698C541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4999B8-39B6-E538-4F69-57B72C20BE0B}"/>
              </a:ext>
            </a:extLst>
          </p:cNvPr>
          <p:cNvSpPr txBox="1"/>
          <p:nvPr userDrawn="1"/>
        </p:nvSpPr>
        <p:spPr>
          <a:xfrm>
            <a:off x="10389815" y="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>
                <a:solidFill>
                  <a:srgbClr val="FF0000"/>
                </a:solidFill>
              </a:rPr>
              <a:t>站：万物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zh-CN" altLang="en-US" sz="2400" dirty="0">
                <a:solidFill>
                  <a:srgbClr val="FF0000"/>
                </a:solidFill>
              </a:rPr>
              <a:t>安宁</a:t>
            </a:r>
          </a:p>
        </p:txBody>
      </p:sp>
    </p:spTree>
    <p:extLst>
      <p:ext uri="{BB962C8B-B14F-4D97-AF65-F5344CB8AC3E}">
        <p14:creationId xmlns:p14="http://schemas.microsoft.com/office/powerpoint/2010/main" val="218544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7344" y="1183677"/>
            <a:ext cx="9644063" cy="2518034"/>
          </a:xfrm>
          <a:prstGeom prst="rect">
            <a:avLst/>
          </a:prstGeom>
        </p:spPr>
        <p:txBody>
          <a:bodyPr anchor="b"/>
          <a:lstStyle>
            <a:lvl1pPr algn="ctr">
              <a:defRPr sz="6328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7344" y="3798816"/>
            <a:ext cx="9644063" cy="17462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31"/>
            </a:lvl1pPr>
            <a:lvl2pPr marL="482163" indent="0" algn="ctr">
              <a:buNone/>
              <a:defRPr sz="2109"/>
            </a:lvl2pPr>
            <a:lvl3pPr marL="964326" indent="0" algn="ctr">
              <a:buNone/>
              <a:defRPr sz="1898"/>
            </a:lvl3pPr>
            <a:lvl4pPr marL="1446489" indent="0" algn="ctr">
              <a:buNone/>
              <a:defRPr sz="1687"/>
            </a:lvl4pPr>
            <a:lvl5pPr marL="1928652" indent="0" algn="ctr">
              <a:buNone/>
              <a:defRPr sz="1687"/>
            </a:lvl5pPr>
            <a:lvl6pPr marL="2410816" indent="0" algn="ctr">
              <a:buNone/>
              <a:defRPr sz="1687"/>
            </a:lvl6pPr>
            <a:lvl7pPr marL="2892979" indent="0" algn="ctr">
              <a:buNone/>
              <a:defRPr sz="1687"/>
            </a:lvl7pPr>
            <a:lvl8pPr marL="3375142" indent="0" algn="ctr">
              <a:buNone/>
              <a:defRPr sz="1687"/>
            </a:lvl8pPr>
            <a:lvl9pPr marL="3857305" indent="0" algn="ctr">
              <a:buNone/>
              <a:defRPr sz="1687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/>
          <a:lstStyle/>
          <a:p>
            <a:fld id="{73B3D490-D047-46FA-BFB9-06A35E31C10B}" type="datetimeFigureOut">
              <a:rPr lang="id-ID" smtClean="0"/>
              <a:t>18/07/2024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/>
          <a:lstStyle/>
          <a:p>
            <a:fld id="{934C11C6-5A40-492F-87BB-D659BD3D6B6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4969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15DFD-8505-4C7B-90FE-F45A3565472F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6F3C-FA24-4A80-8CD4-EE5698C541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F6CCD9-4876-E4DD-7D72-90F276FCF5B5}"/>
              </a:ext>
            </a:extLst>
          </p:cNvPr>
          <p:cNvSpPr txBox="1"/>
          <p:nvPr userDrawn="1"/>
        </p:nvSpPr>
        <p:spPr>
          <a:xfrm>
            <a:off x="10389815" y="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>
                <a:solidFill>
                  <a:srgbClr val="FF0000"/>
                </a:solidFill>
              </a:rPr>
              <a:t>站：万物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zh-CN" altLang="en-US" sz="2400" dirty="0">
                <a:solidFill>
                  <a:srgbClr val="FF0000"/>
                </a:solidFill>
              </a:rPr>
              <a:t>安宁</a:t>
            </a:r>
          </a:p>
        </p:txBody>
      </p:sp>
    </p:spTree>
    <p:extLst>
      <p:ext uri="{BB962C8B-B14F-4D97-AF65-F5344CB8AC3E}">
        <p14:creationId xmlns:p14="http://schemas.microsoft.com/office/powerpoint/2010/main" val="333292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4047" r:id="rId2"/>
    <p:sldLayoutId id="214748404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6529" b="-35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22357" y="1528093"/>
            <a:ext cx="10223635" cy="923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000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双有源桥（</a:t>
            </a:r>
            <a:r>
              <a:rPr lang="en-US" altLang="zh-CN" sz="6000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DAB</a:t>
            </a:r>
            <a:r>
              <a:rPr lang="zh-CN" altLang="en-US" sz="6000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）变换器详解</a:t>
            </a:r>
            <a:endParaRPr lang="zh-CN" altLang="en-US" sz="6600" b="1" dirty="0">
              <a:solidFill>
                <a:schemeClr val="accent1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5EE406-A7B0-6DF1-0C9F-E312BEBB560F}"/>
              </a:ext>
            </a:extLst>
          </p:cNvPr>
          <p:cNvSpPr txBox="1"/>
          <p:nvPr/>
        </p:nvSpPr>
        <p:spPr>
          <a:xfrm>
            <a:off x="10389815" y="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>
                <a:solidFill>
                  <a:srgbClr val="FF0000"/>
                </a:solidFill>
              </a:rPr>
              <a:t>站：万物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zh-CN" altLang="en-US" sz="2400" dirty="0">
                <a:solidFill>
                  <a:srgbClr val="FF0000"/>
                </a:solidFill>
              </a:rPr>
              <a:t>安宁</a:t>
            </a:r>
          </a:p>
        </p:txBody>
      </p:sp>
    </p:spTree>
    <p:extLst>
      <p:ext uri="{BB962C8B-B14F-4D97-AF65-F5344CB8AC3E}">
        <p14:creationId xmlns:p14="http://schemas.microsoft.com/office/powerpoint/2010/main" val="605105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crush"/>
      </p:transition>
    </mc:Choice>
    <mc:Fallback xmlns=""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3" y="1891628"/>
            <a:ext cx="5681516" cy="2278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69"/>
          <p:cNvSpPr>
            <a:spLocks noChangeArrowheads="1"/>
          </p:cNvSpPr>
          <p:nvPr/>
        </p:nvSpPr>
        <p:spPr bwMode="auto">
          <a:xfrm>
            <a:off x="6861080" y="1886047"/>
            <a:ext cx="25135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拓扑及基本原理</a:t>
            </a:r>
            <a:endParaRPr lang="en-US" altLang="zh-CN" sz="2800" b="1" dirty="0">
              <a:solidFill>
                <a:schemeClr val="accent1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72"/>
          <p:cNvSpPr>
            <a:spLocks noChangeArrowheads="1"/>
          </p:cNvSpPr>
          <p:nvPr/>
        </p:nvSpPr>
        <p:spPr bwMode="auto">
          <a:xfrm>
            <a:off x="2975028" y="3311748"/>
            <a:ext cx="2330766" cy="738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4799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sz="32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73"/>
          <p:cNvSpPr>
            <a:spLocks noChangeArrowheads="1"/>
          </p:cNvSpPr>
          <p:nvPr/>
        </p:nvSpPr>
        <p:spPr bwMode="auto">
          <a:xfrm>
            <a:off x="3011897" y="2042570"/>
            <a:ext cx="2257028" cy="135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8799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7999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直接连接符 74"/>
          <p:cNvSpPr>
            <a:spLocks noChangeShapeType="1"/>
          </p:cNvSpPr>
          <p:nvPr/>
        </p:nvSpPr>
        <p:spPr bwMode="auto">
          <a:xfrm>
            <a:off x="6271473" y="1886046"/>
            <a:ext cx="0" cy="3953897"/>
          </a:xfrm>
          <a:prstGeom prst="line">
            <a:avLst/>
          </a:prstGeom>
          <a:noFill/>
          <a:ln w="12700" cap="flat" cmpd="sng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69"/>
          <p:cNvSpPr>
            <a:spLocks noChangeArrowheads="1"/>
          </p:cNvSpPr>
          <p:nvPr/>
        </p:nvSpPr>
        <p:spPr bwMode="auto">
          <a:xfrm>
            <a:off x="6861080" y="3009098"/>
            <a:ext cx="21544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基本调制策略</a:t>
            </a:r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69"/>
          <p:cNvSpPr>
            <a:spLocks noChangeArrowheads="1"/>
          </p:cNvSpPr>
          <p:nvPr/>
        </p:nvSpPr>
        <p:spPr bwMode="auto">
          <a:xfrm>
            <a:off x="6861080" y="4132150"/>
            <a:ext cx="21544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800" b="1" dirty="0">
                <a:solidFill>
                  <a:schemeClr val="accent3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优化调制总结</a:t>
            </a:r>
            <a:endParaRPr lang="en-US" altLang="zh-CN" sz="2800" b="1" dirty="0">
              <a:solidFill>
                <a:schemeClr val="accent3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Box 69"/>
          <p:cNvSpPr>
            <a:spLocks noChangeArrowheads="1"/>
          </p:cNvSpPr>
          <p:nvPr/>
        </p:nvSpPr>
        <p:spPr bwMode="auto">
          <a:xfrm>
            <a:off x="6861080" y="5255201"/>
            <a:ext cx="71814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800" b="1" dirty="0">
                <a:solidFill>
                  <a:schemeClr val="accent4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总结</a:t>
            </a:r>
            <a:endParaRPr lang="en-US" altLang="zh-CN" sz="2800" b="1" dirty="0">
              <a:solidFill>
                <a:schemeClr val="accent4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61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07" y="399"/>
            <a:ext cx="12857339" cy="72318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09372" y="2248324"/>
            <a:ext cx="6840009" cy="27360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41343" y="2938802"/>
            <a:ext cx="3664155" cy="6152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3998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拓扑及基本原理</a:t>
            </a: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121369" y="2189894"/>
            <a:ext cx="2379237" cy="2713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3796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01</a:t>
            </a:r>
          </a:p>
          <a:p>
            <a:pPr algn="ctr">
              <a:buNone/>
            </a:pPr>
            <a:r>
              <a:rPr lang="en-US" altLang="zh-CN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chapter</a:t>
            </a:r>
            <a:endParaRPr lang="zh-CN" altLang="en-US" cap="all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721212" y="2406172"/>
            <a:ext cx="0" cy="23326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37FF98E-B931-E1A3-6E6A-48AD5B3DD389}"/>
              </a:ext>
            </a:extLst>
          </p:cNvPr>
          <p:cNvSpPr txBox="1"/>
          <p:nvPr/>
        </p:nvSpPr>
        <p:spPr>
          <a:xfrm>
            <a:off x="10389815" y="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>
                <a:solidFill>
                  <a:srgbClr val="FF0000"/>
                </a:solidFill>
              </a:rPr>
              <a:t>站：万物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zh-CN" altLang="en-US" sz="2400" dirty="0">
                <a:solidFill>
                  <a:srgbClr val="FF0000"/>
                </a:solidFill>
              </a:rPr>
              <a:t>安宁</a:t>
            </a:r>
          </a:p>
        </p:txBody>
      </p:sp>
    </p:spTree>
    <p:extLst>
      <p:ext uri="{BB962C8B-B14F-4D97-AF65-F5344CB8AC3E}">
        <p14:creationId xmlns:p14="http://schemas.microsoft.com/office/powerpoint/2010/main" val="894771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214261C-70A4-EDE5-EEB2-08650EB05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855" y="159941"/>
            <a:ext cx="9077278" cy="279422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3943287-35D7-F446-0CFF-AEABF08F1880}"/>
              </a:ext>
            </a:extLst>
          </p:cNvPr>
          <p:cNvSpPr txBox="1"/>
          <p:nvPr/>
        </p:nvSpPr>
        <p:spPr>
          <a:xfrm>
            <a:off x="468420" y="3184277"/>
            <a:ext cx="11921910" cy="354446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defTabSz="964149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输入电压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V1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，输出电压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V2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，漏感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L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，开关器件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S1-S8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，输入输出电容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C1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C0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964149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电感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L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在变换器中起到了传输能量的作用，通过控制原副边的开关管通断顺序来实现传输功率的大小。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964149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为简化后续分析过程，假设如下：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964149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①变换器处于稳态工作；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964149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②变压器励磁电感无穷大；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964149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③所有器件均为理想，不考虑额外的寄生参数影响；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defTabSz="964149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④开关管并联电容与等效电感 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L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的谐振频率远小于变换器的工作频率。</a:t>
            </a:r>
          </a:p>
        </p:txBody>
      </p:sp>
    </p:spTree>
    <p:extLst>
      <p:ext uri="{BB962C8B-B14F-4D97-AF65-F5344CB8AC3E}">
        <p14:creationId xmlns:p14="http://schemas.microsoft.com/office/powerpoint/2010/main" val="266149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07" y="399"/>
            <a:ext cx="12857339" cy="7231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09372" y="2248324"/>
            <a:ext cx="6840009" cy="27360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97212" y="2938802"/>
            <a:ext cx="318406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rPr>
              <a:t>基本调制策略</a:t>
            </a:r>
            <a:endParaRPr lang="en-US" altLang="zh-CN" sz="4000" b="1" dirty="0">
              <a:solidFill>
                <a:schemeClr val="bg1"/>
              </a:solidFill>
              <a:latin typeface="Arial" panose="020B0604020202020204" pitchFamily="34" charset="0"/>
              <a:ea typeface="微软雅黑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121369" y="2189894"/>
            <a:ext cx="2379237" cy="2713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3796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02</a:t>
            </a:r>
          </a:p>
          <a:p>
            <a:pPr algn="ctr">
              <a:buNone/>
            </a:pPr>
            <a:r>
              <a:rPr lang="en-US" altLang="zh-CN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chapter</a:t>
            </a:r>
            <a:endParaRPr lang="zh-CN" altLang="en-US" cap="all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721212" y="2406172"/>
            <a:ext cx="0" cy="23326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A4E9951-DFC8-09E5-5084-E4C708FE7FCD}"/>
              </a:ext>
            </a:extLst>
          </p:cNvPr>
          <p:cNvSpPr txBox="1"/>
          <p:nvPr/>
        </p:nvSpPr>
        <p:spPr>
          <a:xfrm>
            <a:off x="10389815" y="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>
                <a:solidFill>
                  <a:srgbClr val="FF0000"/>
                </a:solidFill>
              </a:rPr>
              <a:t>站：万物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zh-CN" altLang="en-US" sz="2400" dirty="0">
                <a:solidFill>
                  <a:srgbClr val="FF0000"/>
                </a:solidFill>
              </a:rPr>
              <a:t>安宁</a:t>
            </a:r>
          </a:p>
        </p:txBody>
      </p:sp>
    </p:spTree>
    <p:extLst>
      <p:ext uri="{BB962C8B-B14F-4D97-AF65-F5344CB8AC3E}">
        <p14:creationId xmlns:p14="http://schemas.microsoft.com/office/powerpoint/2010/main" val="24254472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451856" y="6579169"/>
            <a:ext cx="548358" cy="28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3C5028F-8D3B-45CC-A1ED-22F09E87F5E5}" type="slidenum">
              <a:rPr lang="id-ID" sz="1266">
                <a:solidFill>
                  <a:schemeClr val="bg1"/>
                </a:solidFill>
              </a:rPr>
              <a:t>6</a:t>
            </a:fld>
            <a:endParaRPr lang="id-ID" sz="1266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 flipV="1">
            <a:off x="2445645" y="2812544"/>
            <a:ext cx="983067" cy="2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 flipH="1" flipV="1">
            <a:off x="5493271" y="2824237"/>
            <a:ext cx="1191112" cy="2"/>
          </a:xfrm>
          <a:prstGeom prst="line">
            <a:avLst/>
          </a:prstGeom>
          <a:ln w="19050">
            <a:solidFill>
              <a:schemeClr val="accent2"/>
            </a:solidFill>
            <a:prstDash val="sysDash"/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/>
          </p:cNvCxnSpPr>
          <p:nvPr/>
        </p:nvCxnSpPr>
        <p:spPr>
          <a:xfrm flipH="1">
            <a:off x="9117344" y="2812545"/>
            <a:ext cx="1090775" cy="11694"/>
          </a:xfrm>
          <a:prstGeom prst="line">
            <a:avLst/>
          </a:prstGeom>
          <a:ln w="19050">
            <a:solidFill>
              <a:schemeClr val="accent3"/>
            </a:solidFill>
            <a:prstDash val="sysDash"/>
            <a:headEnd type="triangl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3047215" y="303957"/>
            <a:ext cx="6303786" cy="836035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4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基本对称移相调制策略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0F0BC9-18F2-BF2B-47AB-02D183AF1025}"/>
              </a:ext>
            </a:extLst>
          </p:cNvPr>
          <p:cNvSpPr txBox="1"/>
          <p:nvPr/>
        </p:nvSpPr>
        <p:spPr>
          <a:xfrm>
            <a:off x="348451" y="2284283"/>
            <a:ext cx="2087264" cy="959146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单移相调制（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SPS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6AC1D-9556-F02C-4A8A-BAC911698C1B}"/>
              </a:ext>
            </a:extLst>
          </p:cNvPr>
          <p:cNvSpPr txBox="1"/>
          <p:nvPr/>
        </p:nvSpPr>
        <p:spPr>
          <a:xfrm>
            <a:off x="3491414" y="2284283"/>
            <a:ext cx="2016224" cy="959146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双移相调制（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DPS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39C104-14D5-08B9-DB35-E61A2A0B2B92}"/>
              </a:ext>
            </a:extLst>
          </p:cNvPr>
          <p:cNvSpPr txBox="1"/>
          <p:nvPr/>
        </p:nvSpPr>
        <p:spPr>
          <a:xfrm>
            <a:off x="6602103" y="2273879"/>
            <a:ext cx="2368643" cy="959146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扩展移相调制（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EPS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E046DF6-014C-64F8-54BE-AC13B4FE7EA0}"/>
              </a:ext>
            </a:extLst>
          </p:cNvPr>
          <p:cNvSpPr txBox="1"/>
          <p:nvPr/>
        </p:nvSpPr>
        <p:spPr>
          <a:xfrm>
            <a:off x="10209881" y="2284440"/>
            <a:ext cx="2368643" cy="959146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三重移相调制（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TPS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74C03C9-47B6-4661-3C48-87E6C648FB7B}"/>
              </a:ext>
            </a:extLst>
          </p:cNvPr>
          <p:cNvSpPr txBox="1"/>
          <p:nvPr/>
        </p:nvSpPr>
        <p:spPr>
          <a:xfrm>
            <a:off x="348451" y="3259896"/>
            <a:ext cx="2087264" cy="52825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</a:t>
            </a:r>
            <a:endParaRPr lang="zh-CN" altLang="en-US" sz="280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BEA140B-9D31-2E37-2223-9ECD542E0B4E}"/>
              </a:ext>
            </a:extLst>
          </p:cNvPr>
          <p:cNvSpPr txBox="1"/>
          <p:nvPr/>
        </p:nvSpPr>
        <p:spPr>
          <a:xfrm>
            <a:off x="3514444" y="3265528"/>
            <a:ext cx="2087264" cy="52825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D1,D2</a:t>
            </a:r>
            <a:endParaRPr lang="zh-CN" altLang="en-US" sz="280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DF6433C-027F-D05B-2FD4-E86C05EC1D2A}"/>
              </a:ext>
            </a:extLst>
          </p:cNvPr>
          <p:cNvSpPr txBox="1"/>
          <p:nvPr/>
        </p:nvSpPr>
        <p:spPr>
          <a:xfrm>
            <a:off x="6742792" y="3259017"/>
            <a:ext cx="2087264" cy="52825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D1,D2</a:t>
            </a:r>
            <a:endParaRPr lang="zh-CN" altLang="en-US" sz="280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234B9E4-BF16-8EEE-CA02-72C4690F4E31}"/>
              </a:ext>
            </a:extLst>
          </p:cNvPr>
          <p:cNvSpPr txBox="1"/>
          <p:nvPr/>
        </p:nvSpPr>
        <p:spPr>
          <a:xfrm>
            <a:off x="10350570" y="3243429"/>
            <a:ext cx="2087264" cy="52825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D1,D2,D3</a:t>
            </a:r>
            <a:endParaRPr lang="zh-CN" altLang="en-US" sz="280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箭头: 直角上 79">
            <a:extLst>
              <a:ext uri="{FF2B5EF4-FFF2-40B4-BE49-F238E27FC236}">
                <a16:creationId xmlns:a16="http://schemas.microsoft.com/office/drawing/2014/main" id="{ED688E33-0BF0-6D09-176D-46755A6788CD}"/>
              </a:ext>
            </a:extLst>
          </p:cNvPr>
          <p:cNvSpPr/>
          <p:nvPr/>
        </p:nvSpPr>
        <p:spPr>
          <a:xfrm flipH="1">
            <a:off x="1340480" y="4730677"/>
            <a:ext cx="10053722" cy="306033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125BC7C-144A-22BE-8E3A-37DE0B65710A}"/>
              </a:ext>
            </a:extLst>
          </p:cNvPr>
          <p:cNvSpPr txBox="1"/>
          <p:nvPr/>
        </p:nvSpPr>
        <p:spPr>
          <a:xfrm>
            <a:off x="5699160" y="5151156"/>
            <a:ext cx="2087264" cy="52825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D2=D3=0</a:t>
            </a:r>
            <a:endParaRPr lang="zh-CN" altLang="en-US" sz="280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2" name="箭头: 直角上 81">
            <a:extLst>
              <a:ext uri="{FF2B5EF4-FFF2-40B4-BE49-F238E27FC236}">
                <a16:creationId xmlns:a16="http://schemas.microsoft.com/office/drawing/2014/main" id="{42D15F15-259C-2C98-69E3-4F2EDA7E13DE}"/>
              </a:ext>
            </a:extLst>
          </p:cNvPr>
          <p:cNvSpPr/>
          <p:nvPr/>
        </p:nvSpPr>
        <p:spPr>
          <a:xfrm flipH="1">
            <a:off x="4508831" y="3901412"/>
            <a:ext cx="7059557" cy="311561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976E661-E3AD-1873-D7BC-20B602DDF421}"/>
              </a:ext>
            </a:extLst>
          </p:cNvPr>
          <p:cNvSpPr txBox="1"/>
          <p:nvPr/>
        </p:nvSpPr>
        <p:spPr>
          <a:xfrm>
            <a:off x="6883483" y="4210366"/>
            <a:ext cx="2087263" cy="52825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D3=0</a:t>
            </a:r>
            <a:endParaRPr lang="zh-CN" altLang="en-US" sz="280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4" name="箭头: 直角上 83">
            <a:extLst>
              <a:ext uri="{FF2B5EF4-FFF2-40B4-BE49-F238E27FC236}">
                <a16:creationId xmlns:a16="http://schemas.microsoft.com/office/drawing/2014/main" id="{895E4B45-6670-DA2E-E311-4A75B5480711}"/>
              </a:ext>
            </a:extLst>
          </p:cNvPr>
          <p:cNvSpPr/>
          <p:nvPr/>
        </p:nvSpPr>
        <p:spPr>
          <a:xfrm flipH="1">
            <a:off x="1278116" y="3901411"/>
            <a:ext cx="2945361" cy="311561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FB8458B-FA1A-3706-7EE9-609847DEDFEC}"/>
              </a:ext>
            </a:extLst>
          </p:cNvPr>
          <p:cNvSpPr txBox="1"/>
          <p:nvPr/>
        </p:nvSpPr>
        <p:spPr>
          <a:xfrm>
            <a:off x="1893546" y="4235076"/>
            <a:ext cx="2087263" cy="528259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D2=0</a:t>
            </a:r>
            <a:endParaRPr lang="zh-CN" altLang="en-US" sz="2800" dirty="0">
              <a:solidFill>
                <a:srgbClr val="FF0000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164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flip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451856" y="6579169"/>
            <a:ext cx="548358" cy="28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3C5028F-8D3B-45CC-A1ED-22F09E87F5E5}" type="slidenum">
              <a:rPr lang="id-ID" sz="1266">
                <a:solidFill>
                  <a:schemeClr val="bg1"/>
                </a:solidFill>
              </a:rPr>
              <a:t>7</a:t>
            </a:fld>
            <a:endParaRPr lang="id-ID" sz="1266" dirty="0">
              <a:solidFill>
                <a:schemeClr val="bg1"/>
              </a:solidFill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5083BD19-6857-D7EE-B649-29AFE3211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1" y="702054"/>
            <a:ext cx="4229317" cy="5505733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B1169B30-32A2-5743-0696-64B2CADB9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183" y="180984"/>
            <a:ext cx="5080981" cy="2886111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74711C9-0285-5A7D-3F5C-3B2388654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4379" y="431710"/>
            <a:ext cx="3029106" cy="263538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60AC64EE-323B-F587-12D7-825F3E1AF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55" y="3416819"/>
            <a:ext cx="3245017" cy="654084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3DF9A90B-98AA-7264-EC64-4C97B96E08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3631" y="3454921"/>
            <a:ext cx="2756042" cy="615982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3498AEC6-E2DB-88F0-E16F-B48C4B05F8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0078" y="4305715"/>
            <a:ext cx="3092609" cy="1034834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8311DF20-ED6D-44F7-667A-69A43E731D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849" y="4165556"/>
            <a:ext cx="3801682" cy="2177102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8C4D306A-9216-764D-65AA-B1832688152D}"/>
              </a:ext>
            </a:extLst>
          </p:cNvPr>
          <p:cNvSpPr txBox="1"/>
          <p:nvPr/>
        </p:nvSpPr>
        <p:spPr>
          <a:xfrm>
            <a:off x="289540" y="135738"/>
            <a:ext cx="2506272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单移相（</a:t>
            </a:r>
            <a:r>
              <a:rPr lang="en-US" altLang="zh-CN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SPS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8BEE12-F096-7E0E-42B1-E2E5E3A973A0}"/>
              </a:ext>
            </a:extLst>
          </p:cNvPr>
          <p:cNvSpPr txBox="1"/>
          <p:nvPr/>
        </p:nvSpPr>
        <p:spPr>
          <a:xfrm>
            <a:off x="8653" y="6744819"/>
            <a:ext cx="5059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参考：双有源桥DC-DC变换器的研究 </a:t>
            </a:r>
            <a:r>
              <a:rPr lang="en-US" altLang="zh-CN" b="1" dirty="0"/>
              <a:t>–</a:t>
            </a:r>
            <a:r>
              <a:rPr lang="zh-CN" altLang="en-US" b="1" dirty="0"/>
              <a:t>郭华越</a:t>
            </a:r>
          </a:p>
        </p:txBody>
      </p:sp>
    </p:spTree>
    <p:extLst>
      <p:ext uri="{BB962C8B-B14F-4D97-AF65-F5344CB8AC3E}">
        <p14:creationId xmlns:p14="http://schemas.microsoft.com/office/powerpoint/2010/main" val="56164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flip dir="r"/>
      </p:transition>
    </mc:Choice>
    <mc:Fallback xmlns=""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8011EAA-3373-C7C3-996C-A0D1A919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12" y="880021"/>
            <a:ext cx="6485424" cy="599221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81FA9D-B2C1-4ED1-7214-1A4FC2BA4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903" y="4912469"/>
            <a:ext cx="4962135" cy="8640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29EF33E-B79B-EEEB-A5D9-F76AE78EC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478" y="1069166"/>
            <a:ext cx="5256585" cy="37451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1B90BDA-CD04-6B56-F6BD-91B36E92AE3C}"/>
              </a:ext>
            </a:extLst>
          </p:cNvPr>
          <p:cNvSpPr txBox="1"/>
          <p:nvPr/>
        </p:nvSpPr>
        <p:spPr>
          <a:xfrm>
            <a:off x="102793" y="135738"/>
            <a:ext cx="2879771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扩展移相（</a:t>
            </a:r>
            <a:r>
              <a:rPr lang="en-US" altLang="zh-CN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EPS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7230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96D5184-85F6-8EC6-4F0B-B208CFA9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27" y="696939"/>
            <a:ext cx="6120680" cy="5838771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0A59F7B-CCC2-6D10-419F-576971BCE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47144"/>
              </p:ext>
            </p:extLst>
          </p:nvPr>
        </p:nvGraphicFramePr>
        <p:xfrm>
          <a:off x="5461000" y="3276600"/>
          <a:ext cx="914400" cy="16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164160" progId="Equation.DSMT4">
                  <p:embed/>
                </p:oleObj>
              </mc:Choice>
              <mc:Fallback>
                <p:oleObj name="Equation" r:id="rId3" imgW="914400" imgH="164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1000" y="3276600"/>
                        <a:ext cx="914400" cy="163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5B016585-1FDE-7453-B8C5-58C90A02D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47" y="720099"/>
            <a:ext cx="5328592" cy="43696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7EBD7A-AA72-4649-C819-4E3DAC5AE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463" y="5272509"/>
            <a:ext cx="5256587" cy="8640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A437D24-CA50-1E69-01AC-DA41CDF3E8F0}"/>
              </a:ext>
            </a:extLst>
          </p:cNvPr>
          <p:cNvSpPr txBox="1"/>
          <p:nvPr/>
        </p:nvSpPr>
        <p:spPr>
          <a:xfrm>
            <a:off x="129442" y="87933"/>
            <a:ext cx="3294949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双重单移相（</a:t>
            </a:r>
            <a:r>
              <a:rPr lang="en-US" altLang="zh-CN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DPS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9099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C31907F-0CB6-E62C-A30E-F60B07104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87" y="231949"/>
            <a:ext cx="3312368" cy="59551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2207F94-D1FD-C87F-9FEA-617CB1348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151" y="447973"/>
            <a:ext cx="6549880" cy="201622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40CE121-34BB-33FC-AFD3-E13206CA62CA}"/>
              </a:ext>
            </a:extLst>
          </p:cNvPr>
          <p:cNvSpPr txBox="1"/>
          <p:nvPr/>
        </p:nvSpPr>
        <p:spPr>
          <a:xfrm>
            <a:off x="3979679" y="2824237"/>
            <a:ext cx="8712968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电感电流和输入输出电流要注意区分。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求变换器的功率特性需要的是输入输出电流，优化有效值和电流应力是针对电感电流，在不同调制策略下，两者存在差异，这也是多数情况下求解功率方程错误的地方。</a:t>
            </a:r>
          </a:p>
        </p:txBody>
      </p:sp>
    </p:spTree>
    <p:extLst>
      <p:ext uri="{BB962C8B-B14F-4D97-AF65-F5344CB8AC3E}">
        <p14:creationId xmlns:p14="http://schemas.microsoft.com/office/powerpoint/2010/main" val="1682332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07" y="399"/>
            <a:ext cx="12857339" cy="72318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09372" y="2248324"/>
            <a:ext cx="6840009" cy="27360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97212" y="2938802"/>
            <a:ext cx="3184060" cy="6152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3998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优化调制策略</a:t>
            </a: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121369" y="2189894"/>
            <a:ext cx="2379237" cy="2713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3796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03</a:t>
            </a:r>
          </a:p>
          <a:p>
            <a:pPr algn="ctr">
              <a:buNone/>
            </a:pPr>
            <a:r>
              <a:rPr lang="en-US" altLang="zh-CN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chapter</a:t>
            </a:r>
            <a:endParaRPr lang="zh-CN" altLang="en-US" cap="all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721212" y="2406172"/>
            <a:ext cx="0" cy="23326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506AA09-0B95-645C-1AAA-1077D59CBD52}"/>
              </a:ext>
            </a:extLst>
          </p:cNvPr>
          <p:cNvSpPr txBox="1"/>
          <p:nvPr/>
        </p:nvSpPr>
        <p:spPr>
          <a:xfrm>
            <a:off x="10389815" y="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>
                <a:solidFill>
                  <a:srgbClr val="FF0000"/>
                </a:solidFill>
              </a:rPr>
              <a:t>站：万物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zh-CN" altLang="en-US" sz="2400" dirty="0">
                <a:solidFill>
                  <a:srgbClr val="FF0000"/>
                </a:solidFill>
              </a:rPr>
              <a:t>安宁</a:t>
            </a:r>
          </a:p>
        </p:txBody>
      </p:sp>
    </p:spTree>
    <p:extLst>
      <p:ext uri="{BB962C8B-B14F-4D97-AF65-F5344CB8AC3E}">
        <p14:creationId xmlns:p14="http://schemas.microsoft.com/office/powerpoint/2010/main" val="2695461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451856" y="6579169"/>
            <a:ext cx="548358" cy="28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3C5028F-8D3B-45CC-A1ED-22F09E87F5E5}" type="slidenum">
              <a:rPr lang="id-ID" sz="1266">
                <a:solidFill>
                  <a:schemeClr val="bg1"/>
                </a:solidFill>
              </a:rPr>
              <a:t>12</a:t>
            </a:fld>
            <a:endParaRPr lang="id-ID" sz="1266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9235" y="2176165"/>
            <a:ext cx="9900283" cy="667592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电流应力、电流有效值、软开关范围、回流功率、设计问题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B07EEF-D67E-7577-42FF-30362383072F}"/>
              </a:ext>
            </a:extLst>
          </p:cNvPr>
          <p:cNvSpPr txBox="1"/>
          <p:nvPr/>
        </p:nvSpPr>
        <p:spPr>
          <a:xfrm>
            <a:off x="5205239" y="375965"/>
            <a:ext cx="2064484" cy="667592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DAB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变换器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641187BF-3064-32BF-A059-02AAF2EC28E9}"/>
              </a:ext>
            </a:extLst>
          </p:cNvPr>
          <p:cNvSpPr/>
          <p:nvPr/>
        </p:nvSpPr>
        <p:spPr>
          <a:xfrm>
            <a:off x="5985453" y="1168053"/>
            <a:ext cx="504056" cy="11521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7D73B4B2-326F-2B69-61D8-84994B8C3CA2}"/>
              </a:ext>
            </a:extLst>
          </p:cNvPr>
          <p:cNvSpPr/>
          <p:nvPr/>
        </p:nvSpPr>
        <p:spPr>
          <a:xfrm>
            <a:off x="5985453" y="2968253"/>
            <a:ext cx="504056" cy="11521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40E856-55DB-11FA-36BC-D78346AA80BF}"/>
              </a:ext>
            </a:extLst>
          </p:cNvPr>
          <p:cNvSpPr txBox="1"/>
          <p:nvPr/>
        </p:nvSpPr>
        <p:spPr>
          <a:xfrm>
            <a:off x="2694455" y="4120381"/>
            <a:ext cx="7086051" cy="667592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SPS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EPS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DPS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TPS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MPS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APS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C4926C-B41D-F313-7A19-2F63B744C947}"/>
              </a:ext>
            </a:extLst>
          </p:cNvPr>
          <p:cNvSpPr txBox="1"/>
          <p:nvPr/>
        </p:nvSpPr>
        <p:spPr>
          <a:xfrm>
            <a:off x="5242427" y="5848573"/>
            <a:ext cx="1990105" cy="667592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时域、频域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A3A246E4-2729-102B-D37A-2904F4D186D3}"/>
              </a:ext>
            </a:extLst>
          </p:cNvPr>
          <p:cNvSpPr/>
          <p:nvPr/>
        </p:nvSpPr>
        <p:spPr>
          <a:xfrm>
            <a:off x="5985453" y="4820941"/>
            <a:ext cx="504056" cy="11521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27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flip dir="r"/>
      </p:transition>
    </mc:Choice>
    <mc:Fallback xmlns="">
      <p:transition spd="slow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5301538" y="231949"/>
            <a:ext cx="2255674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电流应力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8C01B0-B9F8-5C07-24F3-4A4B44EB4EC2}"/>
              </a:ext>
            </a:extLst>
          </p:cNvPr>
          <p:cNvSpPr txBox="1"/>
          <p:nvPr/>
        </p:nvSpPr>
        <p:spPr>
          <a:xfrm>
            <a:off x="4536641" y="1980326"/>
            <a:ext cx="3785468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求解电流最大值表达式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A3F36E-638D-2625-8B7C-2CD0EE307882}"/>
              </a:ext>
            </a:extLst>
          </p:cNvPr>
          <p:cNvSpPr txBox="1"/>
          <p:nvPr/>
        </p:nvSpPr>
        <p:spPr>
          <a:xfrm>
            <a:off x="2180903" y="4624437"/>
            <a:ext cx="2177655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KKT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最优求解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7D2B2A-962C-1E06-9CE7-2DAB070C67C0}"/>
              </a:ext>
            </a:extLst>
          </p:cNvPr>
          <p:cNvSpPr txBox="1"/>
          <p:nvPr/>
        </p:nvSpPr>
        <p:spPr>
          <a:xfrm>
            <a:off x="4716178" y="4649079"/>
            <a:ext cx="3426395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拉格朗日乘数法求解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2F1A6A-BE05-1CE8-24CD-AA39C38E087C}"/>
              </a:ext>
            </a:extLst>
          </p:cNvPr>
          <p:cNvSpPr txBox="1"/>
          <p:nvPr/>
        </p:nvSpPr>
        <p:spPr>
          <a:xfrm>
            <a:off x="8500191" y="4624437"/>
            <a:ext cx="2708250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偏导最优值求解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C6647C0E-D9D3-EEB6-87B7-0EEA2824FAC4}"/>
              </a:ext>
            </a:extLst>
          </p:cNvPr>
          <p:cNvSpPr/>
          <p:nvPr/>
        </p:nvSpPr>
        <p:spPr>
          <a:xfrm>
            <a:off x="6213351" y="1096045"/>
            <a:ext cx="504056" cy="8451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BDC6F34F-A63A-5CE4-886F-02C9C93E141D}"/>
              </a:ext>
            </a:extLst>
          </p:cNvPr>
          <p:cNvSpPr/>
          <p:nvPr/>
        </p:nvSpPr>
        <p:spPr>
          <a:xfrm>
            <a:off x="6213351" y="2547702"/>
            <a:ext cx="504056" cy="8044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C09BDE65-C48A-1831-39A7-57B5FE0883D7}"/>
              </a:ext>
            </a:extLst>
          </p:cNvPr>
          <p:cNvSpPr/>
          <p:nvPr/>
        </p:nvSpPr>
        <p:spPr>
          <a:xfrm rot="5400000">
            <a:off x="6109218" y="658098"/>
            <a:ext cx="640313" cy="6444717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B1C769-95E5-243D-7D96-C5BC080C6626}"/>
              </a:ext>
            </a:extLst>
          </p:cNvPr>
          <p:cNvSpPr txBox="1"/>
          <p:nvPr/>
        </p:nvSpPr>
        <p:spPr>
          <a:xfrm>
            <a:off x="0" y="6736571"/>
            <a:ext cx="8748698" cy="466704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defTabSz="964149"/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*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注：扩展移相的不同运行模式的选择也关系到电流应力的大小。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859899-1F51-70A5-EB0E-1E79E0D8CDB1}"/>
              </a:ext>
            </a:extLst>
          </p:cNvPr>
          <p:cNvSpPr txBox="1"/>
          <p:nvPr/>
        </p:nvSpPr>
        <p:spPr>
          <a:xfrm>
            <a:off x="5565279" y="5506271"/>
            <a:ext cx="2000747" cy="959146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待优化函数和功率约束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244BF4-55C6-7DA2-5FF2-2FC1552800BC}"/>
              </a:ext>
            </a:extLst>
          </p:cNvPr>
          <p:cNvSpPr txBox="1"/>
          <p:nvPr/>
        </p:nvSpPr>
        <p:spPr>
          <a:xfrm>
            <a:off x="8748698" y="5586745"/>
            <a:ext cx="2211235" cy="1390033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待优化函数对移相角求偏导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8C2F30-DFED-C431-3F04-6A476666F7B0}"/>
              </a:ext>
            </a:extLst>
          </p:cNvPr>
          <p:cNvSpPr txBox="1"/>
          <p:nvPr/>
        </p:nvSpPr>
        <p:spPr>
          <a:xfrm>
            <a:off x="2166449" y="5484334"/>
            <a:ext cx="2000747" cy="959146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待优化函数和约束方程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8049E2C0-90FF-615A-D689-B238B462343A}"/>
              </a:ext>
            </a:extLst>
          </p:cNvPr>
          <p:cNvSpPr/>
          <p:nvPr/>
        </p:nvSpPr>
        <p:spPr>
          <a:xfrm>
            <a:off x="2812424" y="5151704"/>
            <a:ext cx="721082" cy="3844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15682710-FBED-783B-1172-3570FFDE6540}"/>
              </a:ext>
            </a:extLst>
          </p:cNvPr>
          <p:cNvSpPr/>
          <p:nvPr/>
        </p:nvSpPr>
        <p:spPr>
          <a:xfrm>
            <a:off x="6134400" y="5121808"/>
            <a:ext cx="721082" cy="3844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E29C38E6-496E-7256-B1C9-98C5FB14014E}"/>
              </a:ext>
            </a:extLst>
          </p:cNvPr>
          <p:cNvSpPr/>
          <p:nvPr/>
        </p:nvSpPr>
        <p:spPr>
          <a:xfrm>
            <a:off x="9533230" y="5168016"/>
            <a:ext cx="721082" cy="3844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3534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D71D627-E3CE-C0C6-6EDF-03A445ED0699}"/>
              </a:ext>
            </a:extLst>
          </p:cNvPr>
          <p:cNvSpPr txBox="1"/>
          <p:nvPr/>
        </p:nvSpPr>
        <p:spPr>
          <a:xfrm>
            <a:off x="3511927" y="213725"/>
            <a:ext cx="590690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电感电流有效值（</a:t>
            </a:r>
            <a:r>
              <a:rPr lang="en-US" altLang="zh-CN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RMS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8FA619-A547-9B1D-775F-BC47675D23AE}"/>
              </a:ext>
            </a:extLst>
          </p:cNvPr>
          <p:cNvSpPr txBox="1"/>
          <p:nvPr/>
        </p:nvSpPr>
        <p:spPr>
          <a:xfrm>
            <a:off x="4679311" y="1980326"/>
            <a:ext cx="3500133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求解电感电流表达式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0900FF-6C19-E923-751A-4F75502B2D77}"/>
              </a:ext>
            </a:extLst>
          </p:cNvPr>
          <p:cNvSpPr txBox="1"/>
          <p:nvPr/>
        </p:nvSpPr>
        <p:spPr>
          <a:xfrm>
            <a:off x="2127201" y="4624437"/>
            <a:ext cx="2285058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GOC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最优求解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F1D1E9-EB22-776C-BC2C-99441E6303EA}"/>
              </a:ext>
            </a:extLst>
          </p:cNvPr>
          <p:cNvSpPr txBox="1"/>
          <p:nvPr/>
        </p:nvSpPr>
        <p:spPr>
          <a:xfrm>
            <a:off x="4716178" y="4629576"/>
            <a:ext cx="3426395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拉格朗日乘数法求解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171EE3-D7C1-0DD6-ACCC-8035AC1BE3E0}"/>
              </a:ext>
            </a:extLst>
          </p:cNvPr>
          <p:cNvSpPr txBox="1"/>
          <p:nvPr/>
        </p:nvSpPr>
        <p:spPr>
          <a:xfrm>
            <a:off x="8500191" y="4624437"/>
            <a:ext cx="2708250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偏导最优值求解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5530E05A-003B-6EED-69B0-88A95B74D949}"/>
              </a:ext>
            </a:extLst>
          </p:cNvPr>
          <p:cNvSpPr/>
          <p:nvPr/>
        </p:nvSpPr>
        <p:spPr>
          <a:xfrm>
            <a:off x="6213351" y="1029925"/>
            <a:ext cx="504056" cy="8451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124F321F-24BD-60D9-953D-6D523993AEBF}"/>
              </a:ext>
            </a:extLst>
          </p:cNvPr>
          <p:cNvSpPr/>
          <p:nvPr/>
        </p:nvSpPr>
        <p:spPr>
          <a:xfrm>
            <a:off x="6213351" y="2547702"/>
            <a:ext cx="504056" cy="8044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3A933271-18DB-4F9A-2461-1895F6C9FBD9}"/>
              </a:ext>
            </a:extLst>
          </p:cNvPr>
          <p:cNvSpPr/>
          <p:nvPr/>
        </p:nvSpPr>
        <p:spPr>
          <a:xfrm rot="5400000">
            <a:off x="6109218" y="658098"/>
            <a:ext cx="640313" cy="6444717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5A19CA-984C-B7EC-8893-6C76BFD262ED}"/>
              </a:ext>
            </a:extLst>
          </p:cNvPr>
          <p:cNvSpPr txBox="1"/>
          <p:nvPr/>
        </p:nvSpPr>
        <p:spPr>
          <a:xfrm>
            <a:off x="5565279" y="5506271"/>
            <a:ext cx="2000747" cy="959146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待优化函数和功率约束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59C8BE-ACA4-9073-4F6B-255184BF1AA0}"/>
              </a:ext>
            </a:extLst>
          </p:cNvPr>
          <p:cNvSpPr txBox="1"/>
          <p:nvPr/>
        </p:nvSpPr>
        <p:spPr>
          <a:xfrm>
            <a:off x="8748698" y="5586745"/>
            <a:ext cx="2211235" cy="1390033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待优化函数对移相角求偏导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6DBF76-07B7-E327-0361-EB485F0BB71A}"/>
              </a:ext>
            </a:extLst>
          </p:cNvPr>
          <p:cNvSpPr txBox="1"/>
          <p:nvPr/>
        </p:nvSpPr>
        <p:spPr>
          <a:xfrm>
            <a:off x="1915605" y="5753502"/>
            <a:ext cx="2708250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构建了评级函数</a:t>
            </a: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0E856CA5-AB3A-0F9D-CE85-27588409C59C}"/>
              </a:ext>
            </a:extLst>
          </p:cNvPr>
          <p:cNvSpPr/>
          <p:nvPr/>
        </p:nvSpPr>
        <p:spPr>
          <a:xfrm>
            <a:off x="2812424" y="5151704"/>
            <a:ext cx="721082" cy="3844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1479D9B2-CA93-8F30-D5EE-03A88B07F760}"/>
              </a:ext>
            </a:extLst>
          </p:cNvPr>
          <p:cNvSpPr/>
          <p:nvPr/>
        </p:nvSpPr>
        <p:spPr>
          <a:xfrm>
            <a:off x="6104837" y="5151704"/>
            <a:ext cx="721082" cy="3844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5B027078-1C49-A4E2-587C-E002EE5041E5}"/>
              </a:ext>
            </a:extLst>
          </p:cNvPr>
          <p:cNvSpPr/>
          <p:nvPr/>
        </p:nvSpPr>
        <p:spPr>
          <a:xfrm>
            <a:off x="9474610" y="5152044"/>
            <a:ext cx="721082" cy="3844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626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DF6B53-6607-9353-E44B-D589150441E3}"/>
              </a:ext>
            </a:extLst>
          </p:cNvPr>
          <p:cNvSpPr txBox="1"/>
          <p:nvPr/>
        </p:nvSpPr>
        <p:spPr>
          <a:xfrm>
            <a:off x="4461300" y="159941"/>
            <a:ext cx="3936149" cy="1328478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电感电流有效值</a:t>
            </a:r>
            <a:r>
              <a:rPr lang="en-US" altLang="zh-CN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(RMS)</a:t>
            </a:r>
            <a:endParaRPr lang="zh-CN" altLang="en-US" sz="4000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98EFEB-2665-87AB-E1D7-C9D39B963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95" y="1744117"/>
            <a:ext cx="3817765" cy="11637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3DA5B11-0A02-25EA-C31A-F4E371C12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199" y="1588524"/>
            <a:ext cx="4995318" cy="39357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CF7E7F-C51B-94C6-52E8-6AECD9353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207" y="5624334"/>
            <a:ext cx="7586641" cy="10883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3D8E00B-149E-651E-3A5D-EEC2960644CC}"/>
              </a:ext>
            </a:extLst>
          </p:cNvPr>
          <p:cNvSpPr txBox="1"/>
          <p:nvPr/>
        </p:nvSpPr>
        <p:spPr>
          <a:xfrm>
            <a:off x="308695" y="3112269"/>
            <a:ext cx="4152605" cy="260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类比，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EPS,DPS,TPS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这里的积分是需要半个周期中所有部分的电感电流来进行积分。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84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D71D627-E3CE-C0C6-6EDF-03A445ED0699}"/>
              </a:ext>
            </a:extLst>
          </p:cNvPr>
          <p:cNvSpPr txBox="1"/>
          <p:nvPr/>
        </p:nvSpPr>
        <p:spPr>
          <a:xfrm>
            <a:off x="3511927" y="213725"/>
            <a:ext cx="590690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软开关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5530E05A-003B-6EED-69B0-88A95B74D949}"/>
              </a:ext>
            </a:extLst>
          </p:cNvPr>
          <p:cNvSpPr/>
          <p:nvPr/>
        </p:nvSpPr>
        <p:spPr>
          <a:xfrm>
            <a:off x="6213351" y="1029925"/>
            <a:ext cx="504056" cy="8451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124F321F-24BD-60D9-953D-6D523993AEBF}"/>
              </a:ext>
            </a:extLst>
          </p:cNvPr>
          <p:cNvSpPr/>
          <p:nvPr/>
        </p:nvSpPr>
        <p:spPr>
          <a:xfrm>
            <a:off x="6213351" y="2777506"/>
            <a:ext cx="504056" cy="8044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D067EF-5428-B945-4353-A69500673247}"/>
              </a:ext>
            </a:extLst>
          </p:cNvPr>
          <p:cNvSpPr txBox="1"/>
          <p:nvPr/>
        </p:nvSpPr>
        <p:spPr>
          <a:xfrm>
            <a:off x="5241239" y="1875089"/>
            <a:ext cx="244827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>
            <a:defPPr>
              <a:defRPr lang="zh-CN"/>
            </a:defPPr>
            <a:lvl1pPr algn="ctr" defTabSz="964149">
              <a:defRPr sz="40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（</a:t>
            </a:r>
            <a:r>
              <a:rPr lang="en-US" altLang="zh-CN" dirty="0">
                <a:sym typeface="+mn-lt"/>
              </a:rPr>
              <a:t>ZVS,ZCS</a:t>
            </a:r>
            <a:r>
              <a:rPr lang="zh-CN" altLang="en-US" dirty="0">
                <a:sym typeface="+mn-lt"/>
              </a:rPr>
              <a:t>）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FBF97FB-42B0-9ACB-94B4-399B8222CEC0}"/>
              </a:ext>
            </a:extLst>
          </p:cNvPr>
          <p:cNvSpPr txBox="1"/>
          <p:nvPr/>
        </p:nvSpPr>
        <p:spPr>
          <a:xfrm>
            <a:off x="5241239" y="3559051"/>
            <a:ext cx="244827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>
            <a:defPPr>
              <a:defRPr lang="zh-CN"/>
            </a:defPPr>
            <a:lvl1pPr algn="ctr" defTabSz="964149">
              <a:defRPr sz="40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sym typeface="+mn-lt"/>
              </a:rPr>
              <a:t>电感电流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29D3D016-C58A-A3CD-CA80-5A6EBB0CDFB0}"/>
              </a:ext>
            </a:extLst>
          </p:cNvPr>
          <p:cNvSpPr/>
          <p:nvPr/>
        </p:nvSpPr>
        <p:spPr>
          <a:xfrm rot="5400000">
            <a:off x="6145218" y="2944950"/>
            <a:ext cx="640313" cy="3294366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C23ECB-9766-AED2-D143-F7FE973D3BEE}"/>
              </a:ext>
            </a:extLst>
          </p:cNvPr>
          <p:cNvSpPr txBox="1"/>
          <p:nvPr/>
        </p:nvSpPr>
        <p:spPr>
          <a:xfrm>
            <a:off x="3511927" y="4961954"/>
            <a:ext cx="2448273" cy="1328478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>
            <a:defPPr>
              <a:defRPr lang="zh-CN"/>
            </a:defPPr>
            <a:lvl1pPr algn="ctr" defTabSz="964149">
              <a:defRPr sz="40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大于</a:t>
            </a:r>
            <a:r>
              <a:rPr lang="en-US" altLang="zh-CN" dirty="0">
                <a:sym typeface="+mn-lt"/>
              </a:rPr>
              <a:t>0</a:t>
            </a:r>
            <a:r>
              <a:rPr lang="zh-CN" altLang="en-US" dirty="0">
                <a:sym typeface="+mn-lt"/>
              </a:rPr>
              <a:t>或者小于</a:t>
            </a:r>
            <a:r>
              <a:rPr lang="en-US" altLang="zh-CN" dirty="0">
                <a:sym typeface="+mn-lt"/>
              </a:rPr>
              <a:t>0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63A7BD-08B4-E8B2-9579-0340D100199A}"/>
              </a:ext>
            </a:extLst>
          </p:cNvPr>
          <p:cNvSpPr txBox="1"/>
          <p:nvPr/>
        </p:nvSpPr>
        <p:spPr>
          <a:xfrm>
            <a:off x="6898552" y="4984901"/>
            <a:ext cx="244827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>
            <a:defPPr>
              <a:defRPr lang="zh-CN"/>
            </a:defPPr>
            <a:lvl1pPr algn="ctr" defTabSz="964149">
              <a:defRPr sz="40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等于</a:t>
            </a:r>
            <a:r>
              <a:rPr lang="en-US" altLang="zh-CN" dirty="0">
                <a:sym typeface="+mn-lt"/>
              </a:rPr>
              <a:t>0</a:t>
            </a:r>
            <a:endParaRPr lang="zh-CN" altLang="en-US" dirty="0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A275D96E-7A1F-251A-AB07-DC8B1A0E32A3}"/>
              </a:ext>
            </a:extLst>
          </p:cNvPr>
          <p:cNvSpPr/>
          <p:nvPr/>
        </p:nvSpPr>
        <p:spPr>
          <a:xfrm>
            <a:off x="7535251" y="1692573"/>
            <a:ext cx="640313" cy="113800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EE2FF9-61B1-AFD9-EF6F-AE541A9D40AA}"/>
              </a:ext>
            </a:extLst>
          </p:cNvPr>
          <p:cNvSpPr txBox="1"/>
          <p:nvPr/>
        </p:nvSpPr>
        <p:spPr>
          <a:xfrm>
            <a:off x="8301583" y="1336110"/>
            <a:ext cx="1935912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>
            <a:defPPr>
              <a:defRPr lang="zh-CN"/>
            </a:defPPr>
            <a:lvl1pPr algn="ctr" defTabSz="964149">
              <a:defRPr sz="40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MOSFET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81F7DC-9A45-1243-C999-72A6627D3201}"/>
              </a:ext>
            </a:extLst>
          </p:cNvPr>
          <p:cNvSpPr txBox="1"/>
          <p:nvPr/>
        </p:nvSpPr>
        <p:spPr>
          <a:xfrm>
            <a:off x="7834680" y="2481890"/>
            <a:ext cx="244827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>
            <a:defPPr>
              <a:defRPr lang="zh-CN"/>
            </a:defPPr>
            <a:lvl1pPr algn="ctr" defTabSz="964149">
              <a:defRPr sz="40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IGBT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733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451857" y="6848821"/>
            <a:ext cx="548358" cy="28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3C5028F-8D3B-45CC-A1ED-22F09E87F5E5}" type="slidenum">
              <a:rPr lang="id-ID" sz="1266">
                <a:solidFill>
                  <a:schemeClr val="bg1"/>
                </a:solidFill>
              </a:rPr>
              <a:t>17</a:t>
            </a:fld>
            <a:endParaRPr lang="id-ID" sz="1266" dirty="0">
              <a:solidFill>
                <a:schemeClr val="bg1"/>
              </a:solidFill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5083BD19-6857-D7EE-B649-29AFE3211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1" y="702054"/>
            <a:ext cx="4229317" cy="550573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74711C9-0285-5A7D-3F5C-3B2388654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136" y="1541903"/>
            <a:ext cx="3071864" cy="2672585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8C4D306A-9216-764D-65AA-B1832688152D}"/>
              </a:ext>
            </a:extLst>
          </p:cNvPr>
          <p:cNvSpPr txBox="1"/>
          <p:nvPr/>
        </p:nvSpPr>
        <p:spPr>
          <a:xfrm>
            <a:off x="355071" y="106313"/>
            <a:ext cx="3721734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ZVS——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单移相（</a:t>
            </a:r>
            <a:r>
              <a:rPr lang="en-US" altLang="zh-CN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SPS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129F8C-E724-9028-214B-5857122BEECA}"/>
              </a:ext>
            </a:extLst>
          </p:cNvPr>
          <p:cNvSpPr txBox="1"/>
          <p:nvPr/>
        </p:nvSpPr>
        <p:spPr>
          <a:xfrm>
            <a:off x="4341143" y="375965"/>
            <a:ext cx="8228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在开关管被触发导通时，如果此时与其反并联的二极管已经导通，则加在上面的电压已经被箝位为零，则可以认为开关管实现了</a:t>
            </a:r>
            <a:r>
              <a:rPr lang="en-US" altLang="zh-CN" sz="2400" dirty="0">
                <a:solidFill>
                  <a:srgbClr val="FF0000"/>
                </a:solidFill>
              </a:rPr>
              <a:t>ZVS</a:t>
            </a:r>
            <a:r>
              <a:rPr lang="zh-CN" altLang="en-US" sz="2400" dirty="0">
                <a:solidFill>
                  <a:srgbClr val="FF0000"/>
                </a:solidFill>
              </a:rPr>
              <a:t>。那么并联的电容完成充放电是关键的。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30E7B2-9CD0-8A06-FB53-30C528441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107" y="1950800"/>
            <a:ext cx="2593833" cy="13642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9B1C43-ACAC-BE87-5BBF-C722F2739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2948" y="1911749"/>
            <a:ext cx="1654181" cy="1569660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C6BD728B-33AF-39CB-7959-FB6B740BC27D}"/>
              </a:ext>
            </a:extLst>
          </p:cNvPr>
          <p:cNvSpPr/>
          <p:nvPr/>
        </p:nvSpPr>
        <p:spPr>
          <a:xfrm rot="16200000">
            <a:off x="7207666" y="2294333"/>
            <a:ext cx="504056" cy="8044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09A62DE7-9146-F15E-87C4-2E13313246BC}"/>
              </a:ext>
            </a:extLst>
          </p:cNvPr>
          <p:cNvSpPr/>
          <p:nvPr/>
        </p:nvSpPr>
        <p:spPr>
          <a:xfrm rot="16200000">
            <a:off x="9713810" y="2294333"/>
            <a:ext cx="504056" cy="8044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E69D46F-1697-542E-910D-D198D6E802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971" y="5985057"/>
            <a:ext cx="2740573" cy="10657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C7B5810-8F23-7DD0-34FD-D082D2D1CA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3185" y="6122416"/>
            <a:ext cx="3361510" cy="79291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20CACA9-9214-1D34-A5B3-E616A32EF157}"/>
              </a:ext>
            </a:extLst>
          </p:cNvPr>
          <p:cNvSpPr txBox="1"/>
          <p:nvPr/>
        </p:nvSpPr>
        <p:spPr>
          <a:xfrm>
            <a:off x="4349461" y="4383622"/>
            <a:ext cx="79192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*</a:t>
            </a:r>
            <a:r>
              <a:rPr lang="zh-CN" altLang="en-US" sz="2400" dirty="0">
                <a:solidFill>
                  <a:srgbClr val="FF0000"/>
                </a:solidFill>
              </a:rPr>
              <a:t>在多数论文中，直接用</a:t>
            </a:r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r>
              <a:rPr lang="zh-CN" altLang="en-US" sz="2400" dirty="0">
                <a:solidFill>
                  <a:srgbClr val="FF0000"/>
                </a:solidFill>
              </a:rPr>
              <a:t>来作为软开关的判断，精确条件下，软开关的判断还与并联电容和端口电压直接相关，只不过在多数条件下，并联电容太小，导致计算出电流</a:t>
            </a:r>
            <a:r>
              <a:rPr lang="en-US" altLang="zh-CN" sz="2400" dirty="0">
                <a:solidFill>
                  <a:srgbClr val="FF0000"/>
                </a:solidFill>
              </a:rPr>
              <a:t>1A</a:t>
            </a:r>
            <a:r>
              <a:rPr lang="zh-CN" altLang="en-US" sz="2400" dirty="0">
                <a:solidFill>
                  <a:srgbClr val="FF0000"/>
                </a:solidFill>
              </a:rPr>
              <a:t>甚至更小，就近似为</a:t>
            </a:r>
            <a:r>
              <a:rPr lang="en-US" altLang="zh-CN" sz="2400" dirty="0">
                <a:solidFill>
                  <a:srgbClr val="FF0000"/>
                </a:solidFill>
              </a:rPr>
              <a:t>0</a:t>
            </a:r>
            <a:r>
              <a:rPr lang="zh-CN" altLang="en-US" sz="24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091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flip dir="r"/>
      </p:transition>
    </mc:Choice>
    <mc:Fallback xmlns="">
      <p:transition spd="slow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F7C6AA4-52D3-6452-01E4-6446E90F6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3" y="736005"/>
            <a:ext cx="3562533" cy="40705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DA4956-6541-4760-876B-CD016EB3C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776" y="736005"/>
            <a:ext cx="3655195" cy="40705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108427-1278-2C8B-4AD4-2AE0C89AD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67" y="5128493"/>
            <a:ext cx="3568883" cy="11811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B603C61-DABC-A3E2-5A5C-2716799B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199" y="5072838"/>
            <a:ext cx="3365673" cy="12319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9720B4E-59B6-679F-BA36-39FFA85D8A01}"/>
              </a:ext>
            </a:extLst>
          </p:cNvPr>
          <p:cNvSpPr txBox="1"/>
          <p:nvPr/>
        </p:nvSpPr>
        <p:spPr>
          <a:xfrm>
            <a:off x="813531" y="106313"/>
            <a:ext cx="2804816" cy="528259"/>
          </a:xfrm>
          <a:prstGeom prst="rect">
            <a:avLst/>
          </a:prstGeom>
          <a:noFill/>
        </p:spPr>
        <p:txBody>
          <a:bodyPr wrap="none" lIns="96429" tIns="48215" rIns="96429" bIns="48215" rtlCol="0">
            <a:spAutoFit/>
          </a:bodyPr>
          <a:lstStyle/>
          <a:p>
            <a:pPr algn="ctr" defTabSz="964149"/>
            <a:r>
              <a:rPr lang="en-US" altLang="zh-CN" sz="2800" b="1" dirty="0">
                <a:solidFill>
                  <a:schemeClr val="accent4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ZCS——TZM,TRM</a:t>
            </a:r>
            <a:endParaRPr lang="zh-CN" altLang="en-US" sz="2800" b="1" dirty="0">
              <a:solidFill>
                <a:schemeClr val="accent4">
                  <a:lumMod val="7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A77EB1-BF5D-3B85-B55B-97FAAE951032}"/>
              </a:ext>
            </a:extLst>
          </p:cNvPr>
          <p:cNvSpPr txBox="1"/>
          <p:nvPr/>
        </p:nvSpPr>
        <p:spPr>
          <a:xfrm>
            <a:off x="7591831" y="512350"/>
            <a:ext cx="5184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一侧零电压开通，一侧零电流关断。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但是要考虑电流峰值问题。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65BA7D-4046-2327-43EC-A76B2AF6D12D}"/>
              </a:ext>
            </a:extLst>
          </p:cNvPr>
          <p:cNvSpPr txBox="1"/>
          <p:nvPr/>
        </p:nvSpPr>
        <p:spPr>
          <a:xfrm>
            <a:off x="82337" y="6757005"/>
            <a:ext cx="12694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highlight>
                  <a:srgbClr val="FFFFFF"/>
                </a:highlight>
                <a:latin typeface="-apple-system"/>
              </a:rPr>
              <a:t>参考：</a:t>
            </a:r>
            <a:r>
              <a:rPr lang="en-US" altLang="zh-CN" b="1" i="0" dirty="0">
                <a:effectLst/>
                <a:highlight>
                  <a:srgbClr val="FFFFFF"/>
                </a:highlight>
                <a:latin typeface="-apple-system"/>
              </a:rPr>
              <a:t>Hybrid Modulation for Dual-Active-Bridge Bidirectional Converter With Extended Power Range for Ultracapacitor Application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98677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86EE93-F323-A47C-E873-25D6396CCD03}"/>
              </a:ext>
            </a:extLst>
          </p:cNvPr>
          <p:cNvSpPr txBox="1"/>
          <p:nvPr/>
        </p:nvSpPr>
        <p:spPr>
          <a:xfrm>
            <a:off x="3511927" y="213725"/>
            <a:ext cx="590690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参数设计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B3B9D-A18A-6282-EB74-90CB09AFC2C1}"/>
              </a:ext>
            </a:extLst>
          </p:cNvPr>
          <p:cNvSpPr txBox="1"/>
          <p:nvPr/>
        </p:nvSpPr>
        <p:spPr>
          <a:xfrm>
            <a:off x="524719" y="1024037"/>
            <a:ext cx="2304255" cy="466704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电感设计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L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B42F1D-F775-B222-65C1-B6EDB9E2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12" y="2334240"/>
            <a:ext cx="2280701" cy="11488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5B48B5D-9F71-C914-CD91-12D1B8A58AB3}"/>
              </a:ext>
            </a:extLst>
          </p:cNvPr>
          <p:cNvSpPr txBox="1"/>
          <p:nvPr/>
        </p:nvSpPr>
        <p:spPr>
          <a:xfrm>
            <a:off x="746153" y="1765723"/>
            <a:ext cx="2987209" cy="466704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DAB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最大传输功率：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F3D847-7C63-7165-079F-D92A2CC71CD5}"/>
              </a:ext>
            </a:extLst>
          </p:cNvPr>
          <p:cNvSpPr txBox="1"/>
          <p:nvPr/>
        </p:nvSpPr>
        <p:spPr>
          <a:xfrm>
            <a:off x="566092" y="5456291"/>
            <a:ext cx="5066516" cy="1205367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设定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DAB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变换器额定功率为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PN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，另外考虑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1/3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的过载量这样变换器传输的最大功率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Pmax =(4/3)PN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lt"/>
              </a:rPr>
              <a:t>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A10F7E-CE3F-1BD4-C35E-D24D0A869488}"/>
              </a:ext>
            </a:extLst>
          </p:cNvPr>
          <p:cNvSpPr txBox="1"/>
          <p:nvPr/>
        </p:nvSpPr>
        <p:spPr>
          <a:xfrm>
            <a:off x="741474" y="3483102"/>
            <a:ext cx="4891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设最大传输功率的最小值：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0AA4D2D-F089-DBBA-3447-33D146047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45" y="4154971"/>
            <a:ext cx="5372426" cy="106123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2DA0941-31FA-EEB0-8B6F-E64BDB0BA940}"/>
              </a:ext>
            </a:extLst>
          </p:cNvPr>
          <p:cNvSpPr txBox="1"/>
          <p:nvPr/>
        </p:nvSpPr>
        <p:spPr>
          <a:xfrm>
            <a:off x="5684323" y="1197367"/>
            <a:ext cx="68821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理论上，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DAB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变换器最大传输功率的最小值应该大于实际需要传输的最大功率，即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711DA44-8544-1247-44E1-9C7BF1D48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9" y="2058920"/>
            <a:ext cx="3655366" cy="106123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C54B75C-6A67-9BA7-A306-B9804277B103}"/>
              </a:ext>
            </a:extLst>
          </p:cNvPr>
          <p:cNvSpPr txBox="1"/>
          <p:nvPr/>
        </p:nvSpPr>
        <p:spPr>
          <a:xfrm>
            <a:off x="5656233" y="3046842"/>
            <a:ext cx="5477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</a:lstStyle>
          <a:p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可以计算出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L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之间满足的约束条件： 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773C727-893F-DF05-0B41-C99D445C0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598" y="3616325"/>
            <a:ext cx="2335977" cy="11165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5BBC43B-17B5-1669-9DF4-8105DAE7A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809" y="4879875"/>
            <a:ext cx="4721531" cy="91630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E4E9F73-9366-3863-A636-C68D53727C0E}"/>
              </a:ext>
            </a:extLst>
          </p:cNvPr>
          <p:cNvSpPr txBox="1"/>
          <p:nvPr/>
        </p:nvSpPr>
        <p:spPr>
          <a:xfrm>
            <a:off x="40064" y="6834259"/>
            <a:ext cx="72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参考：双有源全桥变换器高性能调制及数字化设计研究 </a:t>
            </a:r>
          </a:p>
        </p:txBody>
      </p:sp>
    </p:spTree>
    <p:extLst>
      <p:ext uri="{BB962C8B-B14F-4D97-AF65-F5344CB8AC3E}">
        <p14:creationId xmlns:p14="http://schemas.microsoft.com/office/powerpoint/2010/main" val="2135695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86EE93-F323-A47C-E873-25D6396CCD03}"/>
              </a:ext>
            </a:extLst>
          </p:cNvPr>
          <p:cNvSpPr txBox="1"/>
          <p:nvPr/>
        </p:nvSpPr>
        <p:spPr>
          <a:xfrm>
            <a:off x="3511927" y="213725"/>
            <a:ext cx="5906903" cy="712925"/>
          </a:xfrm>
          <a:prstGeom prst="rect">
            <a:avLst/>
          </a:prstGeom>
          <a:noFill/>
        </p:spPr>
        <p:txBody>
          <a:bodyPr wrap="square" lIns="96429" tIns="48215" rIns="96429" bIns="48215" rtlCol="0">
            <a:spAutoFit/>
          </a:bodyPr>
          <a:lstStyle/>
          <a:p>
            <a:pPr algn="ctr" defTabSz="964149"/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+mn-lt"/>
              </a:rPr>
              <a:t>传递函数</a:t>
            </a:r>
          </a:p>
        </p:txBody>
      </p:sp>
    </p:spTree>
    <p:extLst>
      <p:ext uri="{BB962C8B-B14F-4D97-AF65-F5344CB8AC3E}">
        <p14:creationId xmlns:p14="http://schemas.microsoft.com/office/powerpoint/2010/main" val="982416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6529" b="-35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2438401" y="1604006"/>
            <a:ext cx="7981950" cy="10156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6600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感谢聆听，批评指导</a:t>
            </a:r>
            <a:endParaRPr lang="zh-CN" altLang="en-US" sz="7200" b="1" dirty="0">
              <a:solidFill>
                <a:schemeClr val="accent1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0FCFDF-14E2-B3B5-1480-31592607F276}"/>
              </a:ext>
            </a:extLst>
          </p:cNvPr>
          <p:cNvSpPr txBox="1"/>
          <p:nvPr/>
        </p:nvSpPr>
        <p:spPr>
          <a:xfrm>
            <a:off x="10389815" y="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>
                <a:solidFill>
                  <a:srgbClr val="FF0000"/>
                </a:solidFill>
              </a:rPr>
              <a:t>站：万物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zh-CN" altLang="en-US" sz="2400" dirty="0">
                <a:solidFill>
                  <a:srgbClr val="FF0000"/>
                </a:solidFill>
              </a:rPr>
              <a:t>安宁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305CA1-8201-C276-DD54-A0D2A9B489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952" y="663997"/>
            <a:ext cx="2595798" cy="368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04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crush"/>
      </p:transition>
    </mc:Choice>
    <mc:Fallback xmlns="">
      <p:transition spd="slow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1276"/>
</p:tagLst>
</file>

<file path=ppt/theme/theme1.xml><?xml version="1.0" encoding="utf-8"?>
<a:theme xmlns:a="http://schemas.openxmlformats.org/drawingml/2006/main" name="自定义设计方案">
  <a:themeElements>
    <a:clrScheme name="自定义 182">
      <a:dk1>
        <a:sysClr val="windowText" lastClr="000000"/>
      </a:dk1>
      <a:lt1>
        <a:sysClr val="window" lastClr="FFFFFF"/>
      </a:lt1>
      <a:dk2>
        <a:srgbClr val="96D624"/>
      </a:dk2>
      <a:lt2>
        <a:srgbClr val="7F7F7F"/>
      </a:lt2>
      <a:accent1>
        <a:srgbClr val="2B8303"/>
      </a:accent1>
      <a:accent2>
        <a:srgbClr val="96D624"/>
      </a:accent2>
      <a:accent3>
        <a:srgbClr val="2B8303"/>
      </a:accent3>
      <a:accent4>
        <a:srgbClr val="96D624"/>
      </a:accent4>
      <a:accent5>
        <a:srgbClr val="2B8303"/>
      </a:accent5>
      <a:accent6>
        <a:srgbClr val="96D624"/>
      </a:accent6>
      <a:hlink>
        <a:srgbClr val="2B8303"/>
      </a:hlink>
      <a:folHlink>
        <a:srgbClr val="96D624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747</Words>
  <Application>Microsoft Office PowerPoint</Application>
  <PresentationFormat>自定义</PresentationFormat>
  <Paragraphs>109</Paragraphs>
  <Slides>21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-apple-system</vt:lpstr>
      <vt:lpstr>微软雅黑</vt:lpstr>
      <vt:lpstr>Arial</vt:lpstr>
      <vt:lpstr>Calibri</vt:lpstr>
      <vt:lpstr>Calibri Light</vt:lpstr>
      <vt:lpstr>自定义设计方案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2017-03-14T12:33:28Z</dcterms:created>
  <dcterms:modified xsi:type="dcterms:W3CDTF">2024-07-18T10:00:29Z</dcterms:modified>
</cp:coreProperties>
</file>